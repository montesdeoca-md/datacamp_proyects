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ES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/>
    <p:restoredTop sz="91089" autoAdjust="0"/>
  </p:normalViewPr>
  <p:slideViewPr>
    <p:cSldViewPr>
      <p:cViewPr>
        <p:scale>
          <a:sx n="145" d="100"/>
          <a:sy n="145" d="100"/>
        </p:scale>
        <p:origin x="2472" y="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BE656-ABE3-41A0-B19F-B1B65C646208}" type="datetimeFigureOut">
              <a:rPr lang="es-MX" smtClean="0"/>
              <a:pPr/>
              <a:t>18/11/25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9EDAB-E35C-4D0B-BD8D-7A8A0534F4A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6376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68313" y="17732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59313" y="17732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8925" y="190500"/>
            <a:ext cx="2058988" cy="61087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29325" cy="61087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3112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68313" y="1773238"/>
            <a:ext cx="8229600" cy="4525962"/>
          </a:xfrm>
        </p:spPr>
        <p:txBody>
          <a:bodyPr/>
          <a:lstStyle/>
          <a:p>
            <a:pPr lvl="0"/>
            <a:r>
              <a:rPr lang="es-ES" noProof="0"/>
              <a:t>Haga clic en el icono para agregar una tabla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90500"/>
            <a:ext cx="8229600" cy="13112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>
            <a:outerShdw dist="125724" dir="2700000" algn="ctr" rotWithShape="0">
              <a:schemeClr val="bg2"/>
            </a:outerShdw>
          </a:effectLst>
        </p:spPr>
        <p:txBody>
          <a:bodyPr vert="horz" wrap="square" lIns="90000" tIns="45720" rIns="9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7732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A54DF-5C54-9C50-6310-7EA37F8613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Data Scientist Certification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2B680A-70DA-C18A-0340-A562E7041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Rodrigo Conrado Cortés Montes de Oca</a:t>
            </a:r>
          </a:p>
        </p:txBody>
      </p:sp>
    </p:spTree>
    <p:extLst>
      <p:ext uri="{BB962C8B-B14F-4D97-AF65-F5344CB8AC3E}">
        <p14:creationId xmlns:p14="http://schemas.microsoft.com/office/powerpoint/2010/main" val="2232820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3A668-DD21-16D7-5F4B-AFF6763A6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Project: Recipe Site Traffic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752AF1-CA10-BD75-B3DF-FF427B684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Objectives: </a:t>
            </a:r>
          </a:p>
          <a:p>
            <a:pPr lvl="1"/>
            <a:r>
              <a:rPr lang="es-MX" dirty="0"/>
              <a:t>Identify the characteristics of the recipes that will lead a High Traffic. </a:t>
            </a:r>
          </a:p>
          <a:p>
            <a:pPr lvl="1"/>
            <a:r>
              <a:rPr lang="es-MX" dirty="0"/>
              <a:t>Predict which recipe will lead to High Traffic in our website.</a:t>
            </a:r>
          </a:p>
          <a:p>
            <a:pPr lvl="1"/>
            <a:r>
              <a:rPr lang="es-MX" dirty="0"/>
              <a:t>Predict correctly 80% of the time.</a:t>
            </a:r>
          </a:p>
          <a:p>
            <a:pPr marL="457200" lvl="1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92730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F8EC2-B947-EEB8-22FF-11A02EB9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Database provided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3B69B41-FE08-D68C-49D9-56C17C488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689"/>
          <a:stretch>
            <a:fillRect/>
          </a:stretch>
        </p:blipFill>
        <p:spPr>
          <a:xfrm>
            <a:off x="3563887" y="373246"/>
            <a:ext cx="5190431" cy="1831618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913457-5193-EA28-2FED-06E9F571C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924050"/>
            <a:ext cx="3008313" cy="420211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947 Recipes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8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5.5 % of data were excluded for containing mising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6359549-74BD-4B58-363B-60A392E082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762000"/>
            <a:ext cx="53340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F60C35B-4936-0DEC-BD98-151D72A3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296718"/>
            <a:ext cx="4298491" cy="42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89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AF2F929-8C05-32BD-C0E9-1A87C862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Traffic Site and Category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1B78CC8-F1F7-5BD5-1580-14956CF43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3637" y="1844824"/>
            <a:ext cx="3758363" cy="37317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4DB9229-4FB6-BDB7-F700-CBCEEAD13D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0"/>
          <a:stretch>
            <a:fillRect/>
          </a:stretch>
        </p:blipFill>
        <p:spPr>
          <a:xfrm>
            <a:off x="4990032" y="1844824"/>
            <a:ext cx="3697044" cy="373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0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5B9ED03-8D18-B256-F90E-9888E29C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Nutritional Features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E63ECB17-27B9-451E-67B8-2BED5612B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050" y="764704"/>
            <a:ext cx="5111750" cy="511175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D4ECE535-2C8C-A801-84A3-3DAD36730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628800"/>
            <a:ext cx="3008313" cy="449736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The Calories, Protein and Sugar were higher in those recipes with high traffic in the site.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The Carbohydrates were not different between groups.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The Protein were the most significative variable. </a:t>
            </a:r>
          </a:p>
        </p:txBody>
      </p:sp>
    </p:spTree>
    <p:extLst>
      <p:ext uri="{BB962C8B-B14F-4D97-AF65-F5344CB8AC3E}">
        <p14:creationId xmlns:p14="http://schemas.microsoft.com/office/powerpoint/2010/main" val="336255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924C58D-EEF2-01D0-1CD0-290B8BBA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Model Development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B4DB94-A751-C39E-3CB6-970C33754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Create a model that predicts correctly 80% of the time which recipe will have high-traffic in the website. </a:t>
            </a:r>
          </a:p>
          <a:p>
            <a:pPr lvl="1"/>
            <a:r>
              <a:rPr lang="es-MX" dirty="0"/>
              <a:t>Logistic Regression </a:t>
            </a:r>
          </a:p>
          <a:p>
            <a:pPr lvl="1"/>
            <a:r>
              <a:rPr lang="es-MX" dirty="0"/>
              <a:t>Random Forest </a:t>
            </a:r>
          </a:p>
          <a:p>
            <a:pPr lvl="1"/>
            <a:r>
              <a:rPr lang="es-MX" dirty="0"/>
              <a:t>Gradient Boosting </a:t>
            </a:r>
          </a:p>
        </p:txBody>
      </p:sp>
    </p:spTree>
    <p:extLst>
      <p:ext uri="{BB962C8B-B14F-4D97-AF65-F5344CB8AC3E}">
        <p14:creationId xmlns:p14="http://schemas.microsoft.com/office/powerpoint/2010/main" val="159101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72578-2C6F-A1CC-4E24-3C46128B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Model Evaluation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2D812A0-1C54-958F-CC66-EC2685789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844824"/>
            <a:ext cx="4525962" cy="4525962"/>
          </a:xfrm>
          <a:prstGeom prst="rect">
            <a:avLst/>
          </a:prstGeom>
        </p:spPr>
      </p:pic>
      <p:sp>
        <p:nvSpPr>
          <p:cNvPr id="5" name="Marcador de texto 8">
            <a:extLst>
              <a:ext uri="{FF2B5EF4-FFF2-40B4-BE49-F238E27FC236}">
                <a16:creationId xmlns:a16="http://schemas.microsoft.com/office/drawing/2014/main" id="{091C1F41-087F-5501-0011-4838DED9E1C6}"/>
              </a:ext>
            </a:extLst>
          </p:cNvPr>
          <p:cNvSpPr txBox="1">
            <a:spLocks/>
          </p:cNvSpPr>
          <p:nvPr/>
        </p:nvSpPr>
        <p:spPr>
          <a:xfrm>
            <a:off x="4572000" y="2029790"/>
            <a:ext cx="4392487" cy="207801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kern="0" dirty="0"/>
              <a:t>Precision: How many retrived high-traffic recipes are correct?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kern="0" dirty="0"/>
              <a:t>Recall: How many high traffic recipes are correctly retrived?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kern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kern="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82EC121-168B-82C5-7C00-13AC31D826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99" b="3948"/>
          <a:stretch>
            <a:fillRect/>
          </a:stretch>
        </p:blipFill>
        <p:spPr bwMode="auto">
          <a:xfrm>
            <a:off x="4881497" y="2965381"/>
            <a:ext cx="3773487" cy="128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texto 8">
            <a:extLst>
              <a:ext uri="{FF2B5EF4-FFF2-40B4-BE49-F238E27FC236}">
                <a16:creationId xmlns:a16="http://schemas.microsoft.com/office/drawing/2014/main" id="{FE4A5F63-D355-BA60-066D-B5A4CFD9951E}"/>
              </a:ext>
            </a:extLst>
          </p:cNvPr>
          <p:cNvSpPr txBox="1">
            <a:spLocks/>
          </p:cNvSpPr>
          <p:nvPr/>
        </p:nvSpPr>
        <p:spPr>
          <a:xfrm>
            <a:off x="4674741" y="4285105"/>
            <a:ext cx="4392487" cy="207801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kern="0" dirty="0"/>
              <a:t>Logistic Regresion: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MX" sz="1000" kern="0" dirty="0"/>
              <a:t>Precision: 81.1%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MX" sz="1000" kern="0" dirty="0"/>
              <a:t>Recall: 76.6%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es-MX" sz="1400" kern="0" dirty="0"/>
              <a:t>Random Forest: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MX" sz="1000" kern="0" dirty="0"/>
              <a:t>Precision: 82%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MX" sz="1000" kern="0" dirty="0"/>
              <a:t>Recall: 68.2%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es-MX" sz="1400" kern="0" dirty="0"/>
              <a:t>Gradient Boosting: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MX" sz="1000" kern="0" dirty="0"/>
              <a:t>Precision: 81.1%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MX" sz="1000" kern="0" dirty="0"/>
              <a:t>Recall: 68.2%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kern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kern="0" dirty="0"/>
          </a:p>
        </p:txBody>
      </p:sp>
      <p:pic>
        <p:nvPicPr>
          <p:cNvPr id="8" name="Gráfico 7" descr="Completed con relleno sólido">
            <a:extLst>
              <a:ext uri="{FF2B5EF4-FFF2-40B4-BE49-F238E27FC236}">
                <a16:creationId xmlns:a16="http://schemas.microsoft.com/office/drawing/2014/main" id="{2C565024-6811-38E7-AF31-0A42A371E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0232" y="41786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2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D1FEE-CC51-B1F8-90EF-092B702D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Important Features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7567AD8-9DD4-6C59-FE5D-577371C9B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6" y="2492896"/>
            <a:ext cx="3100637" cy="30858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4AA90F-2EFA-F0CC-A1FF-20B21C53E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918" y="2492896"/>
            <a:ext cx="3085802" cy="308580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11948E8-4A66-4A88-4CBD-F1A064533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753" y="2492896"/>
            <a:ext cx="3100637" cy="308583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445F683-8AB6-BF63-A621-BC20563896EF}"/>
              </a:ext>
            </a:extLst>
          </p:cNvPr>
          <p:cNvSpPr/>
          <p:nvPr/>
        </p:nvSpPr>
        <p:spPr bwMode="auto">
          <a:xfrm>
            <a:off x="481037" y="2636912"/>
            <a:ext cx="490563" cy="21602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E7E50F-35AA-F277-13A3-894FAD3AFB82}"/>
              </a:ext>
            </a:extLst>
          </p:cNvPr>
          <p:cNvSpPr/>
          <p:nvPr/>
        </p:nvSpPr>
        <p:spPr bwMode="auto">
          <a:xfrm>
            <a:off x="3535474" y="2636912"/>
            <a:ext cx="490563" cy="21602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1D5890-9200-0334-43B3-FAAE3829A159}"/>
              </a:ext>
            </a:extLst>
          </p:cNvPr>
          <p:cNvSpPr/>
          <p:nvPr/>
        </p:nvSpPr>
        <p:spPr bwMode="auto">
          <a:xfrm>
            <a:off x="6439817" y="2636912"/>
            <a:ext cx="490563" cy="21602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51DB4AE-63FC-94DA-6121-5858996FBD8D}"/>
              </a:ext>
            </a:extLst>
          </p:cNvPr>
          <p:cNvSpPr/>
          <p:nvPr/>
        </p:nvSpPr>
        <p:spPr bwMode="auto">
          <a:xfrm>
            <a:off x="6439816" y="3140968"/>
            <a:ext cx="490563" cy="21602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45EA35-A9C8-43FF-4651-5767532901E1}"/>
              </a:ext>
            </a:extLst>
          </p:cNvPr>
          <p:cNvSpPr/>
          <p:nvPr/>
        </p:nvSpPr>
        <p:spPr bwMode="auto">
          <a:xfrm>
            <a:off x="3535474" y="2921943"/>
            <a:ext cx="490563" cy="21602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C301AED-07B9-DA16-F954-543AB03F601D}"/>
              </a:ext>
            </a:extLst>
          </p:cNvPr>
          <p:cNvSpPr/>
          <p:nvPr/>
        </p:nvSpPr>
        <p:spPr bwMode="auto">
          <a:xfrm>
            <a:off x="457200" y="3398752"/>
            <a:ext cx="490563" cy="21602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35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30541-71FB-C2FC-6E83-29FE460B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Buisness Metric and Recomendations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357864-0620-76C3-36B4-2F8CB8836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Keep a high Proteins per Serving to obtain high-traffic recipes </a:t>
            </a:r>
          </a:p>
          <a:p>
            <a:r>
              <a:rPr lang="es-MX" u="sng" dirty="0"/>
              <a:t>Precision</a:t>
            </a:r>
            <a:r>
              <a:rPr lang="es-MX" dirty="0"/>
              <a:t> is the most important aspect to control of the model. (&gt; 80%)</a:t>
            </a:r>
          </a:p>
          <a:p>
            <a:r>
              <a:rPr lang="es-MX" dirty="0"/>
              <a:t>Vegetables is a secure high-traffic recipe (99% of the cases)</a:t>
            </a:r>
          </a:p>
        </p:txBody>
      </p:sp>
    </p:spTree>
    <p:extLst>
      <p:ext uri="{BB962C8B-B14F-4D97-AF65-F5344CB8AC3E}">
        <p14:creationId xmlns:p14="http://schemas.microsoft.com/office/powerpoint/2010/main" val="2577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12B5131-10F2-FAE6-BFD1-AA9E3AF7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Thanks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AC1D5420-E521-9145-9475-CCD2F33C1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863" y="2429669"/>
            <a:ext cx="7302500" cy="32131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352E7AC-3A2F-807A-33DE-C3F96D0D8655}"/>
              </a:ext>
            </a:extLst>
          </p:cNvPr>
          <p:cNvSpPr txBox="1"/>
          <p:nvPr/>
        </p:nvSpPr>
        <p:spPr>
          <a:xfrm>
            <a:off x="-2294885" y="16265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881615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elmi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lmi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lmi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lmi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lmi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lmi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lmi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lmi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lmi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lmi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lmi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lmi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lmi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lmi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540</TotalTime>
  <Words>234</Words>
  <Application>Microsoft Macintosh PowerPoint</Application>
  <PresentationFormat>Presentación en pantalla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Default Theme</vt:lpstr>
      <vt:lpstr>Data Scientist Certification</vt:lpstr>
      <vt:lpstr>Project: Recipe Site Traffic</vt:lpstr>
      <vt:lpstr>Database provided</vt:lpstr>
      <vt:lpstr>Traffic Site and Category</vt:lpstr>
      <vt:lpstr>Nutritional Features</vt:lpstr>
      <vt:lpstr>Model Development</vt:lpstr>
      <vt:lpstr>Model Evaluation</vt:lpstr>
      <vt:lpstr>Important Features</vt:lpstr>
      <vt:lpstr>Buisness Metric and Recomendations</vt:lpstr>
      <vt:lpstr>Thanks</vt:lpstr>
    </vt:vector>
  </TitlesOfParts>
  <Company>BUAP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EXCEL</dc:title>
  <dc:creator>Luis G. Vázquez de Lara Cisneros</dc:creator>
  <cp:lastModifiedBy>Conrado Montes de Oca</cp:lastModifiedBy>
  <cp:revision>18</cp:revision>
  <dcterms:created xsi:type="dcterms:W3CDTF">2013-08-13T16:16:08Z</dcterms:created>
  <dcterms:modified xsi:type="dcterms:W3CDTF">2025-11-18T07:18:56Z</dcterms:modified>
</cp:coreProperties>
</file>